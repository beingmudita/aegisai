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0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offset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M1 · Foundation &amp; Agent</c:v>
                </c:pt>
                <c:pt idx="1">
                  <c:v>M2 · RAG Trust Layer</c:v>
                </c:pt>
                <c:pt idx="2">
                  <c:v>M3 · Agent Firewall</c:v>
                </c:pt>
                <c:pt idx="3">
                  <c:v>M4 · Dashboard, Eval &amp; Docs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75-4C16-B92F-71DC0FBDCD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Duration (weeks)</c:v>
                </c:pt>
              </c:strCache>
            </c:strRef>
          </c:tx>
          <c:spPr>
            <a:solidFill>
              <a:srgbClr val="2E549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M1 · Foundation &amp; Agent</c:v>
                </c:pt>
                <c:pt idx="1">
                  <c:v>M2 · RAG Trust Layer</c:v>
                </c:pt>
                <c:pt idx="2">
                  <c:v>M3 · Agent Firewall</c:v>
                </c:pt>
                <c:pt idx="3">
                  <c:v>M4 · Dashboard, Eval &amp; Docs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75-4C16-B92F-71DC0FBDCD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22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b"/>
        <c:majorGridlines>
          <c:spPr>
            <a:ln w="9525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95959"/>
                    </a:solidFill>
                    <a:latin typeface="Arial"/>
                  </a:defRPr>
                </a:pPr>
                <a:r>
                  <a:rPr lang="en-IN" sz="900" b="0" i="0" u="none" strike="noStrike">
                    <a:solidFill>
                      <a:srgbClr val="595959"/>
                    </a:solidFill>
                    <a:latin typeface="Arial"/>
                  </a:rPr>
                  <a:t>Weeks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9066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AegisAI is a security middleware for RAG-powered AI agents. Introduce the guiding principle: trust the knowledge, control the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indirect prompt injection can turn retrieved knowledge into malicious actions. AegisAI answers two questions with two boundaries. Six objectives span securing inputs, trust scoring, action interception, authorization, data-flow monitoring, and auditing.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cooperating layers. Knowledge is trust-assessed before the agent sees it; every proposed action is authorized by the firewall before any tool runs; all decisions stream to audit and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controlled, modern stack. Core is Python + FastAPI + PostgreSQL/pgvector + one LLM + React. Redis and extra vector DBs added only if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flowchart shows two independent decision points. Trust is scored from five interpretable signals; the firewall issues one of three auditable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is the primary demo surface — a mini SOC for AI agents. It shows a poisoned invoice being detected and the resulting exfiltration attempt blocked, fully reconstructed as an attack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plan is milestone-driven over four months on a single critical path. Conclusion: combining knowledge-level trust with action-level authorization gives defense in depth — trust the knowledge, control the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dronacharya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548640"/>
            <a:ext cx="3657600" cy="80284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4813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10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Synopsis Presentation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606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AegisAI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611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Trust-Aware Security Gateway for RAG-Powered Agentic AI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2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“Trust the knowledge.  Control the action.”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50749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Kartik </a:t>
            </a:r>
            <a:r>
              <a:rPr lang="en-US" sz="1300" b="1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Ghansela</a:t>
            </a: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Mudita Jain</a:t>
            </a:r>
            <a:endParaRPr lang="en-US" sz="13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26082 &amp; 26111</a:t>
            </a:r>
            <a:endParaRPr lang="en-US" sz="13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Computer Science </a:t>
            </a:r>
            <a:endParaRPr lang="en-US" sz="13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Semester: VII</a:t>
            </a:r>
            <a:endParaRPr lang="en-US" sz="13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2023-2027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9B1B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630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retrieve external knowledge and </a:t>
            </a:r>
            <a:r>
              <a:rPr lang="en-US" sz="1250" b="1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it through tools. A poisoned document can hide instructions that trigger an </a:t>
            </a: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action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(e.g. data exfiltration).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3566160" cy="566928"/>
          </a:xfrm>
          <a:prstGeom prst="roundRect">
            <a:avLst>
              <a:gd name="adj" fmla="val 8065"/>
            </a:avLst>
          </a:prstGeom>
          <a:solidFill>
            <a:srgbClr val="D5EBEE"/>
          </a:solidFill>
          <a:ln w="15875">
            <a:solidFill>
              <a:srgbClr val="126E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14600"/>
            <a:ext cx="35661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TRUST LAYER</a:t>
            </a:r>
            <a:endParaRPr lang="en-US" sz="12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trust this information?”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23160" y="3127248"/>
            <a:ext cx="0" cy="310896"/>
          </a:xfrm>
          <a:prstGeom prst="line">
            <a:avLst/>
          </a:prstGeom>
          <a:noFill/>
          <a:ln w="22225">
            <a:solidFill>
              <a:srgbClr val="126E8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3493008"/>
            <a:ext cx="3566160" cy="548640"/>
          </a:xfrm>
          <a:prstGeom prst="roundRect">
            <a:avLst>
              <a:gd name="adj" fmla="val 8333"/>
            </a:avLst>
          </a:prstGeom>
          <a:solidFill>
            <a:srgbClr val="DCE6F5"/>
          </a:solidFill>
          <a:ln w="15875">
            <a:solidFill>
              <a:srgbClr val="2E54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93008"/>
            <a:ext cx="35661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2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 •  plan  •  propose action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423160" y="4087368"/>
            <a:ext cx="0" cy="310896"/>
          </a:xfrm>
          <a:prstGeom prst="line">
            <a:avLst/>
          </a:prstGeom>
          <a:noFill/>
          <a:ln w="22225">
            <a:solidFill>
              <a:srgbClr val="5B2C8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" y="4453128"/>
            <a:ext cx="3566160" cy="566928"/>
          </a:xfrm>
          <a:prstGeom prst="roundRect">
            <a:avLst>
              <a:gd name="adj" fmla="val 8065"/>
            </a:avLst>
          </a:prstGeom>
          <a:solidFill>
            <a:srgbClr val="E7DDF2"/>
          </a:solidFill>
          <a:ln w="15875">
            <a:solidFill>
              <a:srgbClr val="5B2C8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453128"/>
            <a:ext cx="35661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SECURITY FIREWALL</a:t>
            </a:r>
            <a:endParaRPr lang="en-US" sz="12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“Should this action be allowed?”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0749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1.1 — Two independent security boundaries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537667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one layer misses an attack, the other still stops the action — </a:t>
            </a:r>
            <a:r>
              <a:rPr lang="en-US" sz="115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11430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09160" y="1508760"/>
            <a:ext cx="3977640" cy="713232"/>
          </a:xfrm>
          <a:prstGeom prst="roundRect">
            <a:avLst>
              <a:gd name="adj" fmla="val 7692"/>
            </a:avLst>
          </a:prstGeom>
          <a:solidFill>
            <a:srgbClr val="D5EBEE"/>
          </a:solidFill>
          <a:ln w="12700">
            <a:solidFill>
              <a:srgbClr val="126E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4608" y="1636776"/>
            <a:ext cx="457200" cy="457200"/>
          </a:xfrm>
          <a:prstGeom prst="ellipse">
            <a:avLst/>
          </a:prstGeom>
          <a:solidFill>
            <a:srgbClr val="126E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64608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150876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RAG inputs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709160" y="2368296"/>
            <a:ext cx="3977640" cy="713232"/>
          </a:xfrm>
          <a:prstGeom prst="roundRect">
            <a:avLst>
              <a:gd name="adj" fmla="val 7692"/>
            </a:avLst>
          </a:prstGeom>
          <a:solidFill>
            <a:srgbClr val="D5EBEE"/>
          </a:solidFill>
          <a:ln w="12700">
            <a:solidFill>
              <a:srgbClr val="126E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64608" y="2496312"/>
            <a:ext cx="457200" cy="457200"/>
          </a:xfrm>
          <a:prstGeom prst="ellipse">
            <a:avLst/>
          </a:prstGeom>
          <a:solidFill>
            <a:srgbClr val="126E8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64608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40680" y="236829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trust score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709160" y="3227832"/>
            <a:ext cx="3977640" cy="713232"/>
          </a:xfrm>
          <a:prstGeom prst="roundRect">
            <a:avLst>
              <a:gd name="adj" fmla="val 7692"/>
            </a:avLst>
          </a:prstGeom>
          <a:solidFill>
            <a:srgbClr val="E7DDF2"/>
          </a:solidFill>
          <a:ln w="12700">
            <a:solidFill>
              <a:srgbClr val="5B2C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64608" y="3355848"/>
            <a:ext cx="457200" cy="457200"/>
          </a:xfrm>
          <a:prstGeom prst="ellipse">
            <a:avLst/>
          </a:prstGeom>
          <a:solidFill>
            <a:srgbClr val="5B2C8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864608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40680" y="322783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agent actions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709160" y="4087368"/>
            <a:ext cx="3977640" cy="713232"/>
          </a:xfrm>
          <a:prstGeom prst="roundRect">
            <a:avLst>
              <a:gd name="adj" fmla="val 7692"/>
            </a:avLst>
          </a:prstGeom>
          <a:solidFill>
            <a:srgbClr val="E7DDF2"/>
          </a:solidFill>
          <a:ln w="12700">
            <a:solidFill>
              <a:srgbClr val="5B2C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64608" y="4215384"/>
            <a:ext cx="457200" cy="457200"/>
          </a:xfrm>
          <a:prstGeom prst="ellipse">
            <a:avLst/>
          </a:prstGeom>
          <a:solidFill>
            <a:srgbClr val="5B2C8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864608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40680" y="408736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authorization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709160" y="4946904"/>
            <a:ext cx="3977640" cy="713232"/>
          </a:xfrm>
          <a:prstGeom prst="roundRect">
            <a:avLst>
              <a:gd name="adj" fmla="val 7692"/>
            </a:avLst>
          </a:prstGeom>
          <a:solidFill>
            <a:srgbClr val="FCEFC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64608" y="5074920"/>
            <a:ext cx="457200" cy="45720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864608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40680" y="494690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data-flow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4709160" y="5806440"/>
            <a:ext cx="3977640" cy="713232"/>
          </a:xfrm>
          <a:prstGeom prst="roundRect">
            <a:avLst>
              <a:gd name="adj" fmla="val 7692"/>
            </a:avLst>
          </a:prstGeom>
          <a:solidFill>
            <a:srgbClr val="FCEFC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64608" y="5934456"/>
            <a:ext cx="457200" cy="45720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864608" y="5934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440680" y="58064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audit evidence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9B1B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965960" y="1170432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F0F0F0"/>
          </a:solidFill>
          <a:ln w="15875">
            <a:solidFill>
              <a:srgbClr val="A6A6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65960" y="1170432"/>
            <a:ext cx="52120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 —  “Summarize invoices &amp; flag issues”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554480"/>
            <a:ext cx="0" cy="146304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965960" y="1700784"/>
            <a:ext cx="5212080" cy="457200"/>
          </a:xfrm>
          <a:prstGeom prst="roundRect">
            <a:avLst>
              <a:gd name="adj" fmla="val 10000"/>
            </a:avLst>
          </a:prstGeom>
          <a:solidFill>
            <a:srgbClr val="DCE6F5"/>
          </a:solidFill>
          <a:ln w="15875">
            <a:solidFill>
              <a:srgbClr val="2E54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65960" y="1700784"/>
            <a:ext cx="5212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&amp; POLICY ENGINE</a:t>
            </a:r>
            <a:endParaRPr lang="en-US" sz="11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• permissions • destinations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2157984"/>
            <a:ext cx="0" cy="146304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965960" y="2304288"/>
            <a:ext cx="2542032" cy="457200"/>
          </a:xfrm>
          <a:prstGeom prst="roundRect">
            <a:avLst>
              <a:gd name="adj" fmla="val 10000"/>
            </a:avLst>
          </a:prstGeom>
          <a:solidFill>
            <a:srgbClr val="D5EBEE"/>
          </a:solidFill>
          <a:ln w="15875">
            <a:solidFill>
              <a:srgbClr val="126E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65960" y="2304288"/>
            <a:ext cx="25420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LAYER</a:t>
            </a:r>
            <a:endParaRPr lang="en-US" sz="10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• web • PDF • email • DB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36008" y="2304288"/>
            <a:ext cx="2542032" cy="457200"/>
          </a:xfrm>
          <a:prstGeom prst="roundRect">
            <a:avLst>
              <a:gd name="adj" fmla="val 10000"/>
            </a:avLst>
          </a:prstGeom>
          <a:solidFill>
            <a:srgbClr val="E7DDF2"/>
          </a:solidFill>
          <a:ln w="15875">
            <a:solidFill>
              <a:srgbClr val="5B2C8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36008" y="2304288"/>
            <a:ext cx="25420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STORE</a:t>
            </a:r>
            <a:endParaRPr lang="en-US" sz="10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agent/tool/data policies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2761488"/>
            <a:ext cx="0" cy="146304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965960" y="2907792"/>
            <a:ext cx="5212080" cy="548640"/>
          </a:xfrm>
          <a:prstGeom prst="roundRect">
            <a:avLst>
              <a:gd name="adj" fmla="val 8333"/>
            </a:avLst>
          </a:prstGeom>
          <a:solidFill>
            <a:srgbClr val="D5EBEE"/>
          </a:solidFill>
          <a:ln w="15875">
            <a:solidFill>
              <a:srgbClr val="126E8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965960" y="2907792"/>
            <a:ext cx="52120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TRUST GATEWAY</a:t>
            </a:r>
            <a:endParaRPr lang="en-US" sz="11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| Instruction | Semantic  ➔  Trust Engine   →   TRUSTED / SUSPICIOUS / BLOCK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3456432"/>
            <a:ext cx="0" cy="146304"/>
          </a:xfrm>
          <a:prstGeom prst="line">
            <a:avLst/>
          </a:prstGeom>
          <a:noFill/>
          <a:ln w="22225">
            <a:solidFill>
              <a:srgbClr val="126E8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965960" y="3602736"/>
            <a:ext cx="5212080" cy="457200"/>
          </a:xfrm>
          <a:prstGeom prst="roundRect">
            <a:avLst>
              <a:gd name="adj" fmla="val 10000"/>
            </a:avLst>
          </a:prstGeom>
          <a:solidFill>
            <a:srgbClr val="DCE6F5"/>
          </a:solidFill>
          <a:ln w="15875">
            <a:solidFill>
              <a:srgbClr val="2E549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65960" y="3602736"/>
            <a:ext cx="5212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RAG • reasoning • planning  ➔  tool proposal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0" y="4059936"/>
            <a:ext cx="0" cy="146304"/>
          </a:xfrm>
          <a:prstGeom prst="line">
            <a:avLst/>
          </a:prstGeom>
          <a:noFill/>
          <a:ln w="22225">
            <a:solidFill>
              <a:srgbClr val="5B2C8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965960" y="4206240"/>
            <a:ext cx="5212080" cy="548640"/>
          </a:xfrm>
          <a:prstGeom prst="roundRect">
            <a:avLst>
              <a:gd name="adj" fmla="val 8333"/>
            </a:avLst>
          </a:prstGeom>
          <a:solidFill>
            <a:srgbClr val="E7DDF2"/>
          </a:solidFill>
          <a:ln w="15875">
            <a:solidFill>
              <a:srgbClr val="5B2C8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965960" y="4206240"/>
            <a:ext cx="52120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SECURITY FIREWALL</a:t>
            </a:r>
            <a:endParaRPr lang="en-US" sz="11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Auth | Parameter | Data-Flow  ➔  Risk Engine   →   ALLOW / CONFIRM / BLOCK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0" y="4754880"/>
            <a:ext cx="0" cy="146304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965960" y="4901184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F0F0F0"/>
          </a:solidFill>
          <a:ln w="15875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965960" y="4901184"/>
            <a:ext cx="1645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APIs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49040" y="4901184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FCEFCB"/>
          </a:solidFill>
          <a:ln w="15875">
            <a:solidFill>
              <a:srgbClr val="B8860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749040" y="4901184"/>
            <a:ext cx="1645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32120" y="4901184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D8EAD3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32120" y="4901184"/>
            <a:ext cx="1645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DASHBOARD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965960" y="534009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1.2 — End-to-end architecture: trust the knowledge, then control the action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9B1B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286000" cy="749808"/>
          </a:xfrm>
          <a:prstGeom prst="roundRect">
            <a:avLst>
              <a:gd name="adj" fmla="val 6098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2344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07792" y="1362456"/>
            <a:ext cx="1362456" cy="493776"/>
          </a:xfrm>
          <a:prstGeom prst="roundRect">
            <a:avLst>
              <a:gd name="adj" fmla="val 11111"/>
            </a:avLst>
          </a:prstGeom>
          <a:solidFill>
            <a:srgbClr val="D8EAD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07792" y="1362456"/>
            <a:ext cx="1362456" cy="4937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9976" y="1362456"/>
            <a:ext cx="1362456" cy="493776"/>
          </a:xfrm>
          <a:prstGeom prst="roundRect">
            <a:avLst>
              <a:gd name="adj" fmla="val 11111"/>
            </a:avLst>
          </a:prstGeom>
          <a:solidFill>
            <a:srgbClr val="D8EAD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79976" y="1362456"/>
            <a:ext cx="1362456" cy="4937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1362456"/>
            <a:ext cx="1362456" cy="493776"/>
          </a:xfrm>
          <a:prstGeom prst="roundRect">
            <a:avLst>
              <a:gd name="adj" fmla="val 11111"/>
            </a:avLst>
          </a:prstGeom>
          <a:solidFill>
            <a:srgbClr val="D8EAD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52160" y="1362456"/>
            <a:ext cx="1362456" cy="4937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24344" y="1362456"/>
            <a:ext cx="1362456" cy="493776"/>
          </a:xfrm>
          <a:prstGeom prst="roundRect">
            <a:avLst>
              <a:gd name="adj" fmla="val 11111"/>
            </a:avLst>
          </a:prstGeom>
          <a:solidFill>
            <a:srgbClr val="D8EAD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24344" y="1362456"/>
            <a:ext cx="1362456" cy="4937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/ ECharts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066544"/>
            <a:ext cx="2286000" cy="749808"/>
          </a:xfrm>
          <a:prstGeom prst="roundRect">
            <a:avLst>
              <a:gd name="adj" fmla="val 6098"/>
            </a:avLst>
          </a:prstGeom>
          <a:solidFill>
            <a:srgbClr val="1F38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2066544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Middleware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07792" y="2194560"/>
            <a:ext cx="1362456" cy="493776"/>
          </a:xfrm>
          <a:prstGeom prst="roundRect">
            <a:avLst>
              <a:gd name="adj" fmla="val 11111"/>
            </a:avLst>
          </a:prstGeom>
          <a:solidFill>
            <a:srgbClr val="E7DD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907792" y="2194560"/>
            <a:ext cx="1362456" cy="4937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79976" y="2194560"/>
            <a:ext cx="1362456" cy="493776"/>
          </a:xfrm>
          <a:prstGeom prst="roundRect">
            <a:avLst>
              <a:gd name="adj" fmla="val 11111"/>
            </a:avLst>
          </a:prstGeom>
          <a:solidFill>
            <a:srgbClr val="E7DD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79976" y="2194560"/>
            <a:ext cx="1362456" cy="4937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2194560"/>
            <a:ext cx="1362456" cy="493776"/>
          </a:xfrm>
          <a:prstGeom prst="roundRect">
            <a:avLst>
              <a:gd name="adj" fmla="val 11111"/>
            </a:avLst>
          </a:prstGeom>
          <a:solidFill>
            <a:srgbClr val="E7DD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852160" y="2194560"/>
            <a:ext cx="1362456" cy="4937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24344" y="2194560"/>
            <a:ext cx="1362456" cy="493776"/>
          </a:xfrm>
          <a:prstGeom prst="roundRect">
            <a:avLst>
              <a:gd name="adj" fmla="val 11111"/>
            </a:avLst>
          </a:prstGeom>
          <a:solidFill>
            <a:srgbClr val="E7DD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24344" y="2194560"/>
            <a:ext cx="1362456" cy="4937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Engine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898648"/>
            <a:ext cx="2286000" cy="749808"/>
          </a:xfrm>
          <a:prstGeom prst="roundRect">
            <a:avLst>
              <a:gd name="adj" fmla="val 6098"/>
            </a:avLst>
          </a:prstGeom>
          <a:solidFill>
            <a:srgbClr val="1F386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02920" y="289864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&amp; AI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907792" y="3026664"/>
            <a:ext cx="1600200" cy="493776"/>
          </a:xfrm>
          <a:prstGeom prst="roundRect">
            <a:avLst>
              <a:gd name="adj" fmla="val 11111"/>
            </a:avLst>
          </a:prstGeom>
          <a:solidFill>
            <a:srgbClr val="DCE6F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907792" y="3026664"/>
            <a:ext cx="1600200" cy="4937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3026664"/>
            <a:ext cx="1600200" cy="493776"/>
          </a:xfrm>
          <a:prstGeom prst="roundRect">
            <a:avLst>
              <a:gd name="adj" fmla="val 11111"/>
            </a:avLst>
          </a:prstGeom>
          <a:solidFill>
            <a:srgbClr val="DCE6F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617720" y="3026664"/>
            <a:ext cx="1600200" cy="4937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Ollama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27648" y="3026664"/>
            <a:ext cx="1600200" cy="493776"/>
          </a:xfrm>
          <a:prstGeom prst="roundRect">
            <a:avLst>
              <a:gd name="adj" fmla="val 11111"/>
            </a:avLst>
          </a:prstGeom>
          <a:solidFill>
            <a:srgbClr val="DCE6F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27648" y="3026664"/>
            <a:ext cx="1600200" cy="4937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730752"/>
            <a:ext cx="2286000" cy="749808"/>
          </a:xfrm>
          <a:prstGeom prst="roundRect">
            <a:avLst>
              <a:gd name="adj" fmla="val 6098"/>
            </a:avLst>
          </a:prstGeom>
          <a:solidFill>
            <a:srgbClr val="1F386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02920" y="3730752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/ RAG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07792" y="3858768"/>
            <a:ext cx="1600200" cy="493776"/>
          </a:xfrm>
          <a:prstGeom prst="roundRect">
            <a:avLst>
              <a:gd name="adj" fmla="val 11111"/>
            </a:avLst>
          </a:prstGeom>
          <a:solidFill>
            <a:srgbClr val="D5EBE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907792" y="3858768"/>
            <a:ext cx="1600200" cy="4937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17720" y="3858768"/>
            <a:ext cx="1600200" cy="493776"/>
          </a:xfrm>
          <a:prstGeom prst="roundRect">
            <a:avLst>
              <a:gd name="adj" fmla="val 11111"/>
            </a:avLst>
          </a:prstGeom>
          <a:solidFill>
            <a:srgbClr val="D5EBE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617720" y="3858768"/>
            <a:ext cx="1600200" cy="4937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RAG pipeline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562856"/>
            <a:ext cx="2286000" cy="749808"/>
          </a:xfrm>
          <a:prstGeom prst="roundRect">
            <a:avLst>
              <a:gd name="adj" fmla="val 6098"/>
            </a:avLst>
          </a:prstGeom>
          <a:solidFill>
            <a:srgbClr val="1F386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02920" y="4562856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907792" y="4690872"/>
            <a:ext cx="1600200" cy="493776"/>
          </a:xfrm>
          <a:prstGeom prst="roundRect">
            <a:avLst>
              <a:gd name="adj" fmla="val 11111"/>
            </a:avLst>
          </a:prstGeom>
          <a:solidFill>
            <a:srgbClr val="FCEFC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907792" y="4690872"/>
            <a:ext cx="1600200" cy="4937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17720" y="4690872"/>
            <a:ext cx="1600200" cy="493776"/>
          </a:xfrm>
          <a:prstGeom prst="roundRect">
            <a:avLst>
              <a:gd name="adj" fmla="val 11111"/>
            </a:avLst>
          </a:prstGeom>
          <a:solidFill>
            <a:srgbClr val="FCEFC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617720" y="4690872"/>
            <a:ext cx="1600200" cy="4937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27648" y="4690872"/>
            <a:ext cx="1600200" cy="493776"/>
          </a:xfrm>
          <a:prstGeom prst="roundRect">
            <a:avLst>
              <a:gd name="adj" fmla="val 11111"/>
            </a:avLst>
          </a:prstGeom>
          <a:solidFill>
            <a:srgbClr val="FCEFCB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327648" y="4690872"/>
            <a:ext cx="1600200" cy="4937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(optional)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5394960"/>
            <a:ext cx="2286000" cy="749808"/>
          </a:xfrm>
          <a:prstGeom prst="roundRect">
            <a:avLst>
              <a:gd name="adj" fmla="val 6098"/>
            </a:avLst>
          </a:prstGeom>
          <a:solidFill>
            <a:srgbClr val="1F3864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02920" y="53949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2907792" y="5522976"/>
            <a:ext cx="1600200" cy="493776"/>
          </a:xfrm>
          <a:prstGeom prst="roundRect">
            <a:avLst>
              <a:gd name="adj" fmla="val 11111"/>
            </a:avLst>
          </a:prstGeom>
          <a:solidFill>
            <a:srgbClr val="F0F0F0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2907792" y="5522976"/>
            <a:ext cx="1600200" cy="4937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617720" y="5522976"/>
            <a:ext cx="1600200" cy="493776"/>
          </a:xfrm>
          <a:prstGeom prst="roundRect">
            <a:avLst>
              <a:gd name="adj" fmla="val 11111"/>
            </a:avLst>
          </a:prstGeom>
          <a:solidFill>
            <a:srgbClr val="F0F0F0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617720" y="5522976"/>
            <a:ext cx="1600200" cy="4937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327648" y="5522976"/>
            <a:ext cx="1600200" cy="493776"/>
          </a:xfrm>
          <a:prstGeom prst="roundRect">
            <a:avLst>
              <a:gd name="adj" fmla="val 11111"/>
            </a:avLst>
          </a:prstGeom>
          <a:solidFill>
            <a:srgbClr val="F0F0F0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327648" y="5522976"/>
            <a:ext cx="1600200" cy="4937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6245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2.1 — Layered technology stack (core: Python · FastAPI · PostgreSQL/pgvector · React)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9B1B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 &amp; Methodology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25880" y="1188720"/>
            <a:ext cx="2468880" cy="365760"/>
          </a:xfrm>
          <a:prstGeom prst="roundRect">
            <a:avLst>
              <a:gd name="adj" fmla="val 12500"/>
            </a:avLst>
          </a:prstGeom>
          <a:solidFill>
            <a:srgbClr val="F0F0F0"/>
          </a:solidFill>
          <a:ln w="15875">
            <a:solidFill>
              <a:srgbClr val="A6A6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0" y="1554480"/>
            <a:ext cx="0" cy="128016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51560" y="1682496"/>
            <a:ext cx="3017520" cy="365760"/>
          </a:xfrm>
          <a:prstGeom prst="roundRect">
            <a:avLst>
              <a:gd name="adj" fmla="val 12500"/>
            </a:avLst>
          </a:prstGeom>
          <a:solidFill>
            <a:srgbClr val="DCE6F5"/>
          </a:solidFill>
          <a:ln w="15875">
            <a:solidFill>
              <a:srgbClr val="2E54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1682496"/>
            <a:ext cx="30175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&amp; Policy Engine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0" y="2048256"/>
            <a:ext cx="0" cy="128016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51560" y="2176272"/>
            <a:ext cx="3017520" cy="365760"/>
          </a:xfrm>
          <a:prstGeom prst="roundRect">
            <a:avLst>
              <a:gd name="adj" fmla="val 12500"/>
            </a:avLst>
          </a:prstGeom>
          <a:solidFill>
            <a:srgbClr val="D5EBEE"/>
          </a:solidFill>
          <a:ln w="15875">
            <a:solidFill>
              <a:srgbClr val="126E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2176272"/>
            <a:ext cx="30175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0" y="2542032"/>
            <a:ext cx="0" cy="128016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" y="2670048"/>
            <a:ext cx="4114800" cy="402336"/>
          </a:xfrm>
          <a:prstGeom prst="roundRect">
            <a:avLst>
              <a:gd name="adj" fmla="val 11364"/>
            </a:avLst>
          </a:prstGeom>
          <a:solidFill>
            <a:srgbClr val="FCEFCB"/>
          </a:solidFill>
          <a:ln w="15875">
            <a:solidFill>
              <a:srgbClr val="B886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2670048"/>
            <a:ext cx="41148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Trust Assessment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0" y="3072384"/>
            <a:ext cx="0" cy="128016"/>
          </a:xfrm>
          <a:prstGeom prst="line">
            <a:avLst/>
          </a:prstGeom>
          <a:noFill/>
          <a:ln w="22225">
            <a:solidFill>
              <a:srgbClr val="2E549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2920" y="3200400"/>
            <a:ext cx="1298448" cy="384048"/>
          </a:xfrm>
          <a:prstGeom prst="roundRect">
            <a:avLst>
              <a:gd name="adj" fmla="val 14286"/>
            </a:avLst>
          </a:prstGeom>
          <a:solidFill>
            <a:srgbClr val="D8EAD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2920" y="3200400"/>
            <a:ext cx="1298448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911096" y="3200400"/>
            <a:ext cx="1298448" cy="384048"/>
          </a:xfrm>
          <a:prstGeom prst="roundRect">
            <a:avLst>
              <a:gd name="adj" fmla="val 14286"/>
            </a:avLst>
          </a:prstGeom>
          <a:solidFill>
            <a:srgbClr val="FCEFC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911096" y="3200400"/>
            <a:ext cx="1298448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19272" y="3200400"/>
            <a:ext cx="1298448" cy="384048"/>
          </a:xfrm>
          <a:prstGeom prst="roundRect">
            <a:avLst>
              <a:gd name="adj" fmla="val 14286"/>
            </a:avLst>
          </a:prstGeom>
          <a:solidFill>
            <a:srgbClr val="F6D5D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319272" y="3200400"/>
            <a:ext cx="1298448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0" y="3584448"/>
            <a:ext cx="0" cy="128016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0120" y="3712464"/>
            <a:ext cx="3200400" cy="365760"/>
          </a:xfrm>
          <a:prstGeom prst="roundRect">
            <a:avLst>
              <a:gd name="adj" fmla="val 12500"/>
            </a:avLst>
          </a:prstGeom>
          <a:solidFill>
            <a:srgbClr val="DCE6F5"/>
          </a:solidFill>
          <a:ln w="15875">
            <a:solidFill>
              <a:srgbClr val="2E549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3712464"/>
            <a:ext cx="3200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 →  tool proposal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60320" y="4078224"/>
            <a:ext cx="0" cy="128016"/>
          </a:xfrm>
          <a:prstGeom prst="line">
            <a:avLst/>
          </a:prstGeom>
          <a:noFill/>
          <a:ln w="22225">
            <a:solidFill>
              <a:srgbClr val="5B2C8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02920" y="4206240"/>
            <a:ext cx="4114800" cy="402336"/>
          </a:xfrm>
          <a:prstGeom prst="roundRect">
            <a:avLst>
              <a:gd name="adj" fmla="val 11364"/>
            </a:avLst>
          </a:prstGeom>
          <a:solidFill>
            <a:srgbClr val="FCEFCB"/>
          </a:solidFill>
          <a:ln w="15875">
            <a:solidFill>
              <a:srgbClr val="B8860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" y="4206240"/>
            <a:ext cx="41148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Agent Security Firewall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60320" y="4608576"/>
            <a:ext cx="0" cy="128016"/>
          </a:xfrm>
          <a:prstGeom prst="line">
            <a:avLst/>
          </a:prstGeom>
          <a:noFill/>
          <a:ln w="22225">
            <a:solidFill>
              <a:srgbClr val="2E549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02920" y="4736592"/>
            <a:ext cx="1298448" cy="384048"/>
          </a:xfrm>
          <a:prstGeom prst="roundRect">
            <a:avLst>
              <a:gd name="adj" fmla="val 14286"/>
            </a:avLst>
          </a:prstGeom>
          <a:solidFill>
            <a:srgbClr val="D8EAD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02920" y="4736592"/>
            <a:ext cx="1298448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ALLOW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911096" y="4736592"/>
            <a:ext cx="1298448" cy="384048"/>
          </a:xfrm>
          <a:prstGeom prst="roundRect">
            <a:avLst>
              <a:gd name="adj" fmla="val 14286"/>
            </a:avLst>
          </a:prstGeom>
          <a:solidFill>
            <a:srgbClr val="FCEFC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911096" y="4736592"/>
            <a:ext cx="1298448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CONFIRM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19272" y="4736592"/>
            <a:ext cx="1298448" cy="384048"/>
          </a:xfrm>
          <a:prstGeom prst="roundRect">
            <a:avLst>
              <a:gd name="adj" fmla="val 14286"/>
            </a:avLst>
          </a:prstGeom>
          <a:solidFill>
            <a:srgbClr val="F6D5D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319272" y="4736592"/>
            <a:ext cx="1298448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BLOCK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51572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3.1 — Request-handling flowchart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937760" y="11887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Three-decision model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937760" y="1554480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D8EAD3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074920" y="1554480"/>
            <a:ext cx="35204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ALLOW   </a:t>
            </a: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Complies with policy — tool runs.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937760" y="2359152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FCEFCB"/>
          </a:solidFill>
          <a:ln w="15875">
            <a:solidFill>
              <a:srgbClr val="6B4E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074920" y="2359152"/>
            <a:ext cx="35204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CONFIRM   </a:t>
            </a: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Possibly legitimate — needs user approval.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937760" y="3163824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F6D5D2"/>
          </a:solidFill>
          <a:ln w="15875">
            <a:solidFill>
              <a:srgbClr val="B71C1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074920" y="3163824"/>
            <a:ext cx="35204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BLOCK   </a:t>
            </a: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authorization — rejected &amp; logged.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4937760" y="401421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 (deterministic, explainable)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983480" y="4352544"/>
            <a:ext cx="3794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 </a:t>
            </a:r>
            <a:endParaRPr lang="en-US" sz="11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detection  </a:t>
            </a:r>
            <a:endParaRPr lang="en-US" sz="11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relevance  </a:t>
            </a:r>
            <a:endParaRPr lang="en-US" sz="11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consistency  </a:t>
            </a:r>
            <a:endParaRPr lang="en-US" sz="11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history  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0–100  →  TRUSTED / SUSPICIOUS / UNTRUSTED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9B1B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— SOC-Style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316736" cy="868680"/>
          </a:xfrm>
          <a:prstGeom prst="roundRect">
            <a:avLst>
              <a:gd name="adj" fmla="val 6316"/>
            </a:avLst>
          </a:prstGeom>
          <a:solidFill>
            <a:srgbClr val="DCE6F5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43584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1907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Agents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65376" y="1188720"/>
            <a:ext cx="1316736" cy="868680"/>
          </a:xfrm>
          <a:prstGeom prst="roundRect">
            <a:avLst>
              <a:gd name="adj" fmla="val 6316"/>
            </a:avLst>
          </a:prstGeom>
          <a:solidFill>
            <a:srgbClr val="D5EBEE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65376" y="1243584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865376" y="171907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Scanned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73552" y="1188720"/>
            <a:ext cx="1316736" cy="868680"/>
          </a:xfrm>
          <a:prstGeom prst="roundRect">
            <a:avLst>
              <a:gd name="adj" fmla="val 6316"/>
            </a:avLst>
          </a:prstGeom>
          <a:solidFill>
            <a:srgbClr val="FCEFCB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73552" y="1243584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273552" y="171907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81728" y="1188720"/>
            <a:ext cx="1316736" cy="868680"/>
          </a:xfrm>
          <a:prstGeom prst="roundRect">
            <a:avLst>
              <a:gd name="adj" fmla="val 6316"/>
            </a:avLst>
          </a:prstGeom>
          <a:solidFill>
            <a:srgbClr val="F6D5D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81728" y="1243584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681728" y="171907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9904" y="1188720"/>
            <a:ext cx="1316736" cy="868680"/>
          </a:xfrm>
          <a:prstGeom prst="roundRect">
            <a:avLst>
              <a:gd name="adj" fmla="val 6316"/>
            </a:avLst>
          </a:prstGeom>
          <a:solidFill>
            <a:srgbClr val="D8EAD3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9904" y="1243584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089904" y="171907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98080" y="1188720"/>
            <a:ext cx="1316736" cy="868680"/>
          </a:xfrm>
          <a:prstGeom prst="roundRect">
            <a:avLst>
              <a:gd name="adj" fmla="val 6316"/>
            </a:avLst>
          </a:prstGeom>
          <a:solidFill>
            <a:srgbClr val="E7DD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0" y="1243584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171907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Activity — FinanceAgent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606040"/>
            <a:ext cx="5120640" cy="2103120"/>
          </a:xfrm>
          <a:prstGeom prst="roundRect">
            <a:avLst>
              <a:gd name="adj" fmla="val 1739"/>
            </a:avLst>
          </a:prstGeom>
          <a:solidFill>
            <a:srgbClr val="1E1E1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2724912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12:41:02  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Retrieved invoice_42.pdf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12:41:02  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Suspicious instruction detected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12:41:03  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 → LOW (SUSPICIOUS)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12:41:04  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Proposed  send_email()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12:41:04  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Sensitive data: customers.csv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12:41:04  </a:t>
            </a:r>
            <a:r>
              <a:rPr lang="en-US" sz="1150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ACTION BLOCKED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806440" y="22860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Graph (reconstructed)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06440" y="2651760"/>
            <a:ext cx="2880360" cy="310896"/>
          </a:xfrm>
          <a:prstGeom prst="roundRect">
            <a:avLst>
              <a:gd name="adj" fmla="val 14706"/>
            </a:avLst>
          </a:prstGeom>
          <a:solidFill>
            <a:srgbClr val="F6D5D2"/>
          </a:solidFill>
          <a:ln w="15875">
            <a:solidFill>
              <a:srgbClr val="B71C1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06440" y="2651760"/>
            <a:ext cx="28803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6B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Document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46620" y="2962656"/>
            <a:ext cx="0" cy="91440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806440" y="3054096"/>
            <a:ext cx="2880360" cy="310896"/>
          </a:xfrm>
          <a:prstGeom prst="roundRect">
            <a:avLst>
              <a:gd name="adj" fmla="val 14706"/>
            </a:avLst>
          </a:prstGeom>
          <a:solidFill>
            <a:srgbClr val="F6D5D2"/>
          </a:solidFill>
          <a:ln w="15875">
            <a:solidFill>
              <a:srgbClr val="B71C1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806440" y="3054096"/>
            <a:ext cx="28803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6B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46620" y="3364992"/>
            <a:ext cx="0" cy="91440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806440" y="3456432"/>
            <a:ext cx="2880360" cy="310896"/>
          </a:xfrm>
          <a:prstGeom prst="roundRect">
            <a:avLst>
              <a:gd name="adj" fmla="val 14706"/>
            </a:avLst>
          </a:prstGeom>
          <a:solidFill>
            <a:srgbClr val="DCE6F5"/>
          </a:solidFill>
          <a:ln w="15875">
            <a:solidFill>
              <a:srgbClr val="2E549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06440" y="3456432"/>
            <a:ext cx="28803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46620" y="3767328"/>
            <a:ext cx="0" cy="91440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806440" y="3858768"/>
            <a:ext cx="2880360" cy="310896"/>
          </a:xfrm>
          <a:prstGeom prst="roundRect">
            <a:avLst>
              <a:gd name="adj" fmla="val 14706"/>
            </a:avLst>
          </a:prstGeom>
          <a:solidFill>
            <a:srgbClr val="FCEFCB"/>
          </a:solidFill>
          <a:ln w="15875">
            <a:solidFill>
              <a:srgbClr val="B8860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806440" y="3858768"/>
            <a:ext cx="28803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File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46620" y="4169664"/>
            <a:ext cx="0" cy="91440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806440" y="4261104"/>
            <a:ext cx="2880360" cy="310896"/>
          </a:xfrm>
          <a:prstGeom prst="roundRect">
            <a:avLst>
              <a:gd name="adj" fmla="val 14706"/>
            </a:avLst>
          </a:prstGeom>
          <a:solidFill>
            <a:srgbClr val="FCEFCB"/>
          </a:solidFill>
          <a:ln w="15875">
            <a:solidFill>
              <a:srgbClr val="B8860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806440" y="4261104"/>
            <a:ext cx="28803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246620" y="4572000"/>
            <a:ext cx="0" cy="91440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806440" y="4663440"/>
            <a:ext cx="2880360" cy="310896"/>
          </a:xfrm>
          <a:prstGeom prst="roundRect">
            <a:avLst>
              <a:gd name="adj" fmla="val 14706"/>
            </a:avLst>
          </a:prstGeom>
          <a:solidFill>
            <a:srgbClr val="F6D5D2"/>
          </a:solidFill>
          <a:ln w="15875">
            <a:solidFill>
              <a:srgbClr val="B71C1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806440" y="4663440"/>
            <a:ext cx="28803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6B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BLOCKED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5230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3.3 — SOC dashboard: overview KPIs, live agent feed and reconstructed attack chain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9B1B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Conclusion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4-Month Development Plan (16 weeks)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417320"/>
          <a:ext cx="521208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9319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4.1 — Gantt chart of the development plan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1097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0" y="1463040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DCE6F5"/>
          </a:solidFill>
          <a:ln w="15875">
            <a:solidFill>
              <a:srgbClr val="2E549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Foundation</a:t>
            </a:r>
            <a:endParaRPr lang="en-US" sz="11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0" y="1920240"/>
            <a:ext cx="0" cy="146304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943600" y="2066544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D5EBEE"/>
          </a:solidFill>
          <a:ln w="15875">
            <a:solidFill>
              <a:srgbClr val="126E8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0" y="2066544"/>
            <a:ext cx="2743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Trust Layer</a:t>
            </a:r>
            <a:endParaRPr lang="en-US" sz="11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0" y="2523744"/>
            <a:ext cx="0" cy="146304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943600" y="2670048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7DDF2"/>
          </a:solidFill>
          <a:ln w="15875">
            <a:solidFill>
              <a:srgbClr val="5B2C8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0" y="2670048"/>
            <a:ext cx="2743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Firewall</a:t>
            </a:r>
            <a:endParaRPr lang="en-US" sz="11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15200" y="3127248"/>
            <a:ext cx="0" cy="146304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943600" y="3273552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D8EAD3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43600" y="3273552"/>
            <a:ext cx="2743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Eval &amp; Docs</a:t>
            </a:r>
            <a:endParaRPr lang="en-US" sz="11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0" y="3776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4.2 — PERT (A→B→C→D = 16 wks)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4434840"/>
            <a:ext cx="8229600" cy="1737360"/>
          </a:xfrm>
          <a:prstGeom prst="roundRect">
            <a:avLst>
              <a:gd name="adj" fmla="val 3158"/>
            </a:avLst>
          </a:prstGeom>
          <a:solidFill>
            <a:srgbClr val="1F386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85800" y="45537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48920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AegisAI unites a </a:t>
            </a:r>
            <a:r>
              <a:rPr lang="en-US" sz="1350" b="1" dirty="0">
                <a:solidFill>
                  <a:srgbClr val="8FD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Trust Layer</a:t>
            </a: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an </a:t>
            </a:r>
            <a:r>
              <a:rPr lang="en-US" sz="1350" b="1" dirty="0">
                <a:solidFill>
                  <a:srgbClr val="C9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Security Firewall</a:t>
            </a: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linked by trust propagation, into one buildable defense-in-depth system for agentic AI.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56235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“Trust the knowledge.  Control the action.”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854</Words>
  <Application>Microsoft Office PowerPoint</Application>
  <PresentationFormat>On-screen Show (4:3)</PresentationFormat>
  <Paragraphs>169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AegisAI — Project Synopsis Presentation</dc:title>
  <dc:subject>PptxGenJS Presentation</dc:subject>
  <dc:creator>AegisAI Project</dc:creator>
  <cp:lastModifiedBy>Mudita Jain</cp:lastModifiedBy>
  <cp:revision>2</cp:revision>
  <dcterms:created xsi:type="dcterms:W3CDTF">2026-09-27T08:43:08Z</dcterms:created>
  <dcterms:modified xsi:type="dcterms:W3CDTF">2026-09-27T11:38:30Z</dcterms:modified>
</cp:coreProperties>
</file>