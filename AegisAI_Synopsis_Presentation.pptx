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977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B79D-FD1E-A45F-071A-7D93DBD41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BD958-DFBB-7785-AFA5-3486C8811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AE0B5-D14A-517B-7EDC-B3530D697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7A3E1-EC3A-804E-89B0-4F81DD709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8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408" y="502920"/>
            <a:ext cx="2468880" cy="54232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325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A32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0" y="184708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 Presentation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0" y="2212848"/>
            <a:ext cx="121916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0" y="3218688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Trust-Aware Security Gateway for RAG-Powered Agentic AI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0" y="367588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the knowledge.   Control the action.”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892040"/>
            <a:ext cx="6199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Kartik Ghansela And Mudita Jain</a:t>
            </a:r>
            <a:endParaRPr lang="en-US" sz="12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26082 &amp; 26111</a:t>
            </a:r>
            <a:endParaRPr lang="en-US" sz="12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Computer Science</a:t>
            </a:r>
            <a:endParaRPr lang="en-US" sz="12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VII</a:t>
            </a:r>
            <a:endParaRPr lang="en-US" sz="12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2023-2027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8064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Dr. Ashima Mehta (HOD)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Vimmi Malhotra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Dronacharya College of Engineering, Gurugram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384048"/>
            <a:ext cx="1463040" cy="3213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Motivation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now read untrusted text — and hold real power.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14884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ingest user messages, documents and web pages — any of which can carry hidden instructions.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also hold real capabilities: databases, email, the web, code execution.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turns that untrusted text into unauthorized actions.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cannot be the security boundary — it can be fooled perfectly.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4892040"/>
            <a:ext cx="5806440" cy="914400"/>
          </a:xfrm>
          <a:prstGeom prst="rect">
            <a:avLst/>
          </a:prstGeom>
          <a:solidFill>
            <a:srgbClr val="F7F8F9"/>
          </a:solidFill>
          <a:ln w="12700">
            <a:solidFill>
              <a:srgbClr val="D7DADF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38928"/>
            <a:ext cx="420624" cy="4206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  </a:t>
            </a:r>
            <a:r>
              <a:rPr lang="en-US" sz="13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proposes; the gateway disposes.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949440" y="1188720"/>
            <a:ext cx="960120" cy="237744"/>
          </a:xfrm>
          <a:prstGeom prst="rect">
            <a:avLst/>
          </a:prstGeom>
          <a:solidFill>
            <a:srgbClr val="E9EBEE"/>
          </a:solidFill>
          <a:ln w="9525">
            <a:solidFill>
              <a:srgbClr val="8C949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0" y="11887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949440" y="1463040"/>
            <a:ext cx="3200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949440" y="1463040"/>
            <a:ext cx="3200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TEXT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99516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docs · web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949440" y="2788920"/>
            <a:ext cx="320040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9440" y="2788920"/>
            <a:ext cx="3200400" cy="274320"/>
          </a:xfrm>
          <a:prstGeom prst="rect">
            <a:avLst/>
          </a:prstGeom>
          <a:solidFill>
            <a:srgbClr val="B9BFC6"/>
          </a:solidFill>
          <a:ln w="15875">
            <a:solidFill>
              <a:srgbClr val="3A414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9494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699516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acts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949440" y="4114800"/>
            <a:ext cx="3200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949440" y="4114800"/>
            <a:ext cx="3200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494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CAPABILITIES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699516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email · web · code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549640" y="2286000"/>
            <a:ext cx="0" cy="50292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8549640" y="3611880"/>
            <a:ext cx="0" cy="50292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10378440" y="1463040"/>
            <a:ext cx="1417320" cy="822960"/>
          </a:xfrm>
          <a:prstGeom prst="rect">
            <a:avLst/>
          </a:prstGeom>
          <a:solidFill>
            <a:srgbClr val="3A4149"/>
          </a:solidFill>
          <a:ln w="12700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0796" y="1591056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378440" y="1901952"/>
            <a:ext cx="141732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10149840" y="1874520"/>
            <a:ext cx="228600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dash"/>
            <a:headEnd type="arrow"/>
          </a:ln>
        </p:spPr>
      </p:sp>
      <p:sp>
        <p:nvSpPr>
          <p:cNvPr id="29" name="Text 24"/>
          <p:cNvSpPr txBox="1"/>
          <p:nvPr/>
        </p:nvSpPr>
        <p:spPr>
          <a:xfrm>
            <a:off x="694944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1.1 — Injected text becomes action.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384048"/>
            <a:ext cx="1463040" cy="3213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3611880" y="1353312"/>
            <a:ext cx="4343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11880" y="1353312"/>
            <a:ext cx="4343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3533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1627632"/>
            <a:ext cx="42519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invoices &amp; flag issues”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11880" y="2066544"/>
            <a:ext cx="4343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2066544"/>
            <a:ext cx="4343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1880" y="20665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POLICY ENGINE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2340864"/>
            <a:ext cx="42519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· permissions · destinations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11880" y="2834640"/>
            <a:ext cx="43434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11880" y="2834640"/>
            <a:ext cx="4343400" cy="274320"/>
          </a:xfrm>
          <a:prstGeom prst="rect">
            <a:avLst/>
          </a:prstGeom>
          <a:solidFill>
            <a:srgbClr val="B9BFC6"/>
          </a:solidFill>
          <a:ln w="15875">
            <a:solidFill>
              <a:srgbClr val="3A414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11880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TRUST GATEWAY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3108960"/>
            <a:ext cx="4251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Instruction · Semantic</a:t>
            </a:r>
            <a:endParaRPr lang="en-US" sz="9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Trust Engine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11880" y="3767328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11880" y="3767328"/>
            <a:ext cx="4343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11880" y="37673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4041648"/>
            <a:ext cx="4251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· reasoning · planning → tool proposal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11880" y="4517136"/>
            <a:ext cx="43434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11880" y="4517136"/>
            <a:ext cx="4343400" cy="274320"/>
          </a:xfrm>
          <a:prstGeom prst="rect">
            <a:avLst/>
          </a:prstGeom>
          <a:solidFill>
            <a:srgbClr val="B9BFC6"/>
          </a:solidFill>
          <a:ln w="15875">
            <a:solidFill>
              <a:srgbClr val="3A414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11880" y="45171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SECURITY FIREWALL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791456"/>
            <a:ext cx="4251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Auth · Parameter · Data-Flow</a:t>
            </a:r>
            <a:endParaRPr lang="en-US" sz="9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Engine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11880" y="5449824"/>
            <a:ext cx="4343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11880" y="5449824"/>
            <a:ext cx="4343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1880" y="54498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APIs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611880" y="6053328"/>
            <a:ext cx="209854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11880" y="6053328"/>
            <a:ext cx="2098548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611880" y="6053328"/>
            <a:ext cx="209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856732" y="6053328"/>
            <a:ext cx="209854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856732" y="6053328"/>
            <a:ext cx="2098548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56732" y="6053328"/>
            <a:ext cx="209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02920" y="28346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02920" y="2834640"/>
            <a:ext cx="265176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web · PDF</a:t>
            </a:r>
            <a:endParaRPr lang="en-US" sz="9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DB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098280" y="2066544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9098280" y="2066544"/>
            <a:ext cx="260604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98280" y="2066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STORE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9144000" y="2340864"/>
            <a:ext cx="2514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agent/tool/data policies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783580" y="1865376"/>
            <a:ext cx="0" cy="201168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783580" y="2633472"/>
            <a:ext cx="0" cy="201168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5783580" y="3566160"/>
            <a:ext cx="0" cy="201168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5783580" y="4315968"/>
            <a:ext cx="0" cy="201168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5783580" y="5248656"/>
            <a:ext cx="0" cy="201168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5783580" y="5925312"/>
            <a:ext cx="0" cy="128016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5710428" y="6281928"/>
            <a:ext cx="146304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3154680" y="3200400"/>
            <a:ext cx="457200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dash"/>
            <a:tailEnd type="arrow"/>
          </a:ln>
        </p:spPr>
      </p:sp>
      <p:sp>
        <p:nvSpPr>
          <p:cNvPr id="51" name="Shape 48"/>
          <p:cNvSpPr/>
          <p:nvPr/>
        </p:nvSpPr>
        <p:spPr>
          <a:xfrm>
            <a:off x="7955280" y="2350008"/>
            <a:ext cx="1143000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dash"/>
            <a:headEnd type="arrow"/>
          </a:ln>
        </p:spPr>
      </p:sp>
      <p:sp>
        <p:nvSpPr>
          <p:cNvPr id="52" name="Shape 49"/>
          <p:cNvSpPr/>
          <p:nvPr/>
        </p:nvSpPr>
        <p:spPr>
          <a:xfrm>
            <a:off x="9079992" y="2642616"/>
            <a:ext cx="18288" cy="2112264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</a:ln>
        </p:spPr>
      </p:sp>
      <p:sp>
        <p:nvSpPr>
          <p:cNvPr id="53" name="Shape 50"/>
          <p:cNvSpPr/>
          <p:nvPr/>
        </p:nvSpPr>
        <p:spPr>
          <a:xfrm>
            <a:off x="7955280" y="4754880"/>
            <a:ext cx="1143000" cy="0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  <a:headEnd type="arrow"/>
          </a:ln>
        </p:spPr>
      </p:sp>
      <p:sp>
        <p:nvSpPr>
          <p:cNvPr id="54" name="Shape 51"/>
          <p:cNvSpPr/>
          <p:nvPr/>
        </p:nvSpPr>
        <p:spPr>
          <a:xfrm>
            <a:off x="9098280" y="2834640"/>
            <a:ext cx="2606040" cy="201168"/>
          </a:xfrm>
          <a:prstGeom prst="roundRect">
            <a:avLst>
              <a:gd name="adj" fmla="val 50000"/>
            </a:avLst>
          </a:prstGeom>
          <a:solidFill>
            <a:srgbClr val="E4E7EA"/>
          </a:solidFill>
          <a:ln w="9525">
            <a:solidFill>
              <a:srgbClr val="8C949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098280" y="28346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880" dirty="0"/>
          </a:p>
        </p:txBody>
      </p:sp>
      <p:sp>
        <p:nvSpPr>
          <p:cNvPr id="56" name="Shape 53"/>
          <p:cNvSpPr/>
          <p:nvPr/>
        </p:nvSpPr>
        <p:spPr>
          <a:xfrm>
            <a:off x="9098280" y="3099816"/>
            <a:ext cx="2606040" cy="201168"/>
          </a:xfrm>
          <a:prstGeom prst="roundRect">
            <a:avLst>
              <a:gd name="adj" fmla="val 50000"/>
            </a:avLst>
          </a:prstGeom>
          <a:solidFill>
            <a:srgbClr val="AEB4BC"/>
          </a:solidFill>
          <a:ln w="9525">
            <a:solidFill>
              <a:srgbClr val="8C949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098280" y="30998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880" dirty="0"/>
          </a:p>
        </p:txBody>
      </p:sp>
      <p:sp>
        <p:nvSpPr>
          <p:cNvPr id="58" name="Shape 55"/>
          <p:cNvSpPr/>
          <p:nvPr/>
        </p:nvSpPr>
        <p:spPr>
          <a:xfrm>
            <a:off x="9098280" y="3364992"/>
            <a:ext cx="2606040" cy="201168"/>
          </a:xfrm>
          <a:prstGeom prst="roundRect">
            <a:avLst>
              <a:gd name="adj" fmla="val 50000"/>
            </a:avLst>
          </a:prstGeom>
          <a:solidFill>
            <a:srgbClr val="3A4149"/>
          </a:solidFill>
          <a:ln w="9525">
            <a:solidFill>
              <a:srgbClr val="3A4149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098280" y="3364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880" dirty="0"/>
          </a:p>
        </p:txBody>
      </p:sp>
      <p:sp>
        <p:nvSpPr>
          <p:cNvPr id="60" name="Shape 57"/>
          <p:cNvSpPr/>
          <p:nvPr/>
        </p:nvSpPr>
        <p:spPr>
          <a:xfrm>
            <a:off x="7955280" y="3200400"/>
            <a:ext cx="1124712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dash"/>
            <a:tailEnd type="arrow"/>
          </a:ln>
        </p:spPr>
      </p:sp>
      <p:sp>
        <p:nvSpPr>
          <p:cNvPr id="61" name="Shape 58"/>
          <p:cNvSpPr/>
          <p:nvPr/>
        </p:nvSpPr>
        <p:spPr>
          <a:xfrm>
            <a:off x="9098280" y="4517136"/>
            <a:ext cx="2606040" cy="201168"/>
          </a:xfrm>
          <a:prstGeom prst="roundRect">
            <a:avLst>
              <a:gd name="adj" fmla="val 50000"/>
            </a:avLst>
          </a:prstGeom>
          <a:solidFill>
            <a:srgbClr val="E4E7EA"/>
          </a:solidFill>
          <a:ln w="9525">
            <a:solidFill>
              <a:srgbClr val="8C949E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098280" y="45171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880" dirty="0"/>
          </a:p>
        </p:txBody>
      </p:sp>
      <p:sp>
        <p:nvSpPr>
          <p:cNvPr id="63" name="Shape 60"/>
          <p:cNvSpPr/>
          <p:nvPr/>
        </p:nvSpPr>
        <p:spPr>
          <a:xfrm>
            <a:off x="9098280" y="4782312"/>
            <a:ext cx="2606040" cy="201168"/>
          </a:xfrm>
          <a:prstGeom prst="roundRect">
            <a:avLst>
              <a:gd name="adj" fmla="val 50000"/>
            </a:avLst>
          </a:prstGeom>
          <a:solidFill>
            <a:srgbClr val="AEB4BC"/>
          </a:solidFill>
          <a:ln w="9525">
            <a:solidFill>
              <a:srgbClr val="8C949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098280" y="47823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880" dirty="0"/>
          </a:p>
        </p:txBody>
      </p:sp>
      <p:sp>
        <p:nvSpPr>
          <p:cNvPr id="65" name="Shape 62"/>
          <p:cNvSpPr/>
          <p:nvPr/>
        </p:nvSpPr>
        <p:spPr>
          <a:xfrm>
            <a:off x="9098280" y="5047488"/>
            <a:ext cx="2606040" cy="201168"/>
          </a:xfrm>
          <a:prstGeom prst="roundRect">
            <a:avLst>
              <a:gd name="adj" fmla="val 50000"/>
            </a:avLst>
          </a:prstGeom>
          <a:solidFill>
            <a:srgbClr val="3A4149"/>
          </a:solidFill>
          <a:ln w="9525">
            <a:solidFill>
              <a:srgbClr val="3A4149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9098280" y="50474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880" dirty="0"/>
          </a:p>
        </p:txBody>
      </p:sp>
      <p:sp>
        <p:nvSpPr>
          <p:cNvPr id="67" name="Shape 64"/>
          <p:cNvSpPr/>
          <p:nvPr/>
        </p:nvSpPr>
        <p:spPr>
          <a:xfrm>
            <a:off x="7955280" y="4882896"/>
            <a:ext cx="1124712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dash"/>
            <a:tailEnd type="arrow"/>
          </a:ln>
        </p:spPr>
      </p:sp>
      <p:sp>
        <p:nvSpPr>
          <p:cNvPr id="68" name="Text 65"/>
          <p:cNvSpPr txBox="1"/>
          <p:nvPr/>
        </p:nvSpPr>
        <p:spPr>
          <a:xfrm>
            <a:off x="548640" y="6547104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1.2 — End-to-end architecture: trust the knowledge, then control the action.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384048"/>
            <a:ext cx="1463040" cy="3213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 — Defense in Depth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1267816" y="182880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67816" y="1828800"/>
            <a:ext cx="2057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67816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API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313536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roles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00704" y="1828800"/>
            <a:ext cx="2057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00704" y="1828800"/>
            <a:ext cx="2057400" cy="274320"/>
          </a:xfrm>
          <a:prstGeom prst="rect">
            <a:avLst/>
          </a:prstGeom>
          <a:solidFill>
            <a:srgbClr val="B9BFC6"/>
          </a:solidFill>
          <a:ln w="15875">
            <a:solidFill>
              <a:srgbClr val="3A41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00704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INPUT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846424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· suspension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33592" y="182880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33592" y="1828800"/>
            <a:ext cx="2057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33592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RETRIEVAL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379312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trust-scored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866480" y="182880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866480" y="1828800"/>
            <a:ext cx="2057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86648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912200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brain · proposes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866480" y="3886200"/>
            <a:ext cx="2057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866480" y="3886200"/>
            <a:ext cx="2057400" cy="274320"/>
          </a:xfrm>
          <a:prstGeom prst="rect">
            <a:avLst/>
          </a:prstGeom>
          <a:solidFill>
            <a:srgbClr val="B9BFC6"/>
          </a:solidFill>
          <a:ln w="15875">
            <a:solidFill>
              <a:srgbClr val="3A414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866480" y="3886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GATEWAY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912200" y="41605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checks · deny-by-default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333592" y="3886200"/>
            <a:ext cx="2057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33592" y="3886200"/>
            <a:ext cx="2057400" cy="274320"/>
          </a:xfrm>
          <a:prstGeom prst="rect">
            <a:avLst/>
          </a:prstGeom>
          <a:solidFill>
            <a:srgbClr val="B9BFC6"/>
          </a:solidFill>
          <a:ln w="15875">
            <a:solidFill>
              <a:srgbClr val="3A414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33592" y="3886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379312" y="41605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actions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800704" y="388620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800704" y="3886200"/>
            <a:ext cx="2057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800704" y="3886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DLP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3846424" y="41605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· leak check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267816" y="388620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1267816" y="3886200"/>
            <a:ext cx="2057400" cy="274320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267816" y="3886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1313536" y="41605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55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· trust updated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325216" y="2286000"/>
            <a:ext cx="475488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5858104" y="2286000"/>
            <a:ext cx="475488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8390992" y="2286000"/>
            <a:ext cx="475488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895180" y="2743200"/>
            <a:ext cx="0" cy="114300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8390992" y="4343400"/>
            <a:ext cx="475488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headEnd type="triangle"/>
          </a:ln>
        </p:spPr>
      </p:sp>
      <p:sp>
        <p:nvSpPr>
          <p:cNvPr id="43" name="Shape 40"/>
          <p:cNvSpPr/>
          <p:nvPr/>
        </p:nvSpPr>
        <p:spPr>
          <a:xfrm>
            <a:off x="5858104" y="4343400"/>
            <a:ext cx="475488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headEnd type="triangle"/>
          </a:ln>
        </p:spPr>
      </p:sp>
      <p:sp>
        <p:nvSpPr>
          <p:cNvPr id="44" name="Shape 41"/>
          <p:cNvSpPr/>
          <p:nvPr/>
        </p:nvSpPr>
        <p:spPr>
          <a:xfrm>
            <a:off x="3325216" y="4343400"/>
            <a:ext cx="475488" cy="0"/>
          </a:xfrm>
          <a:prstGeom prst="line">
            <a:avLst/>
          </a:prstGeom>
          <a:noFill/>
          <a:ln w="19050">
            <a:solidFill>
              <a:srgbClr val="7F868F"/>
            </a:solidFill>
            <a:prstDash val="solid"/>
            <a:headEnd type="triangle"/>
          </a:ln>
        </p:spPr>
      </p:sp>
      <p:sp>
        <p:nvSpPr>
          <p:cNvPr id="45" name="Shape 42"/>
          <p:cNvSpPr/>
          <p:nvPr/>
        </p:nvSpPr>
        <p:spPr>
          <a:xfrm>
            <a:off x="1267816" y="5440680"/>
            <a:ext cx="9656064" cy="548640"/>
          </a:xfrm>
          <a:prstGeom prst="rect">
            <a:avLst/>
          </a:prstGeom>
          <a:solidFill>
            <a:srgbClr val="F7F8F9"/>
          </a:solidFill>
          <a:ln w="12700">
            <a:solidFill>
              <a:srgbClr val="D7DAD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450696" y="5440680"/>
            <a:ext cx="9290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 </a:t>
            </a:r>
            <a:r>
              <a:rPr lang="en-US" sz="11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is audited and moves one running trust score · deny-by-default · the model is not a security boundary.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1.3 — Request pipeline: screen every channel the model reads; decide every tool call at a deny-by-default gateway.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384048"/>
            <a:ext cx="1463040" cy="3213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3246120" cy="1860804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54480"/>
            <a:ext cx="3246120" cy="603504"/>
          </a:xfrm>
          <a:prstGeom prst="rect">
            <a:avLst/>
          </a:prstGeom>
          <a:solidFill>
            <a:srgbClr val="3A4149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554480"/>
            <a:ext cx="32461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D4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SecurityEngine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185416"/>
            <a:ext cx="30266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trust_threshold: float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policies: PolicyStore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2679192"/>
            <a:ext cx="3246120" cy="0"/>
          </a:xfrm>
          <a:prstGeom prst="line">
            <a:avLst/>
          </a:prstGeom>
          <a:noFill/>
          <a:ln w="12700">
            <a:solidFill>
              <a:srgbClr val="8C949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706624"/>
            <a:ext cx="302666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evaluate_input(text)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decide_tool_call(req)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score_trust() : float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0" y="1444752"/>
            <a:ext cx="3246120" cy="1431036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444752"/>
            <a:ext cx="3246120" cy="603504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444752"/>
            <a:ext cx="32461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TrustGateway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681728" y="2075688"/>
            <a:ext cx="302666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checks: Check[3]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2354580"/>
            <a:ext cx="3246120" cy="0"/>
          </a:xfrm>
          <a:prstGeom prst="line">
            <a:avLst/>
          </a:prstGeom>
          <a:noFill/>
          <a:ln w="12700">
            <a:solidFill>
              <a:srgbClr val="8C949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81728" y="2382012"/>
            <a:ext cx="30266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screen(source)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classify() : Verdict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12480" y="1444752"/>
            <a:ext cx="3200400" cy="1431036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12480" y="1444752"/>
            <a:ext cx="3200400" cy="603504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1444752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AgentFirewall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522208" y="2075688"/>
            <a:ext cx="298094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rules: Policy[]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412480" y="2354580"/>
            <a:ext cx="3200400" cy="0"/>
          </a:xfrm>
          <a:prstGeom prst="line">
            <a:avLst/>
          </a:prstGeom>
          <a:noFill/>
          <a:ln w="12700">
            <a:solidFill>
              <a:srgbClr val="8C949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22208" y="2382012"/>
            <a:ext cx="2980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authorize(tool)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decide() : Action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0080" y="4160520"/>
            <a:ext cx="3246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" y="4160520"/>
            <a:ext cx="3246120" cy="603504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4160520"/>
            <a:ext cx="32461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" y="4791456"/>
            <a:ext cx="302666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max_events: int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40080" y="5070348"/>
            <a:ext cx="3246120" cy="0"/>
          </a:xfrm>
          <a:prstGeom prst="line">
            <a:avLst/>
          </a:prstGeom>
          <a:noFill/>
          <a:ln w="12700">
            <a:solidFill>
              <a:srgbClr val="8C949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5097780"/>
            <a:ext cx="302666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record_event(e)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list_events(f)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summary()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0" y="4160520"/>
            <a:ext cx="3246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0" y="4160520"/>
            <a:ext cx="3246120" cy="603504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0" y="4160520"/>
            <a:ext cx="32461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«store»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681728" y="4791456"/>
            <a:ext cx="302666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sessions: Map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0" y="5070348"/>
            <a:ext cx="3246120" cy="0"/>
          </a:xfrm>
          <a:prstGeom prst="line">
            <a:avLst/>
          </a:prstGeom>
          <a:noFill/>
          <a:ln w="12700">
            <a:solidFill>
              <a:srgbClr val="8C949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81728" y="5097780"/>
            <a:ext cx="302666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create(p, a)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append_turn(t)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list() : Session[]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412480" y="4160520"/>
            <a:ext cx="3200400" cy="1431036"/>
          </a:xfrm>
          <a:prstGeom prst="rect">
            <a:avLst/>
          </a:prstGeom>
          <a:solidFill>
            <a:srgbClr val="FFFFFF"/>
          </a:solidFill>
          <a:ln w="12700">
            <a:solidFill>
              <a:srgbClr val="8C949E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412480" y="4160520"/>
            <a:ext cx="3200400" cy="603504"/>
          </a:xfrm>
          <a:prstGeom prst="rect">
            <a:avLst/>
          </a:prstGeom>
          <a:solidFill>
            <a:srgbClr val="D4D8DD"/>
          </a:solidFill>
          <a:ln w="12700">
            <a:solidFill>
              <a:srgbClr val="8C949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412480" y="4160520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«realizes»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PostgresAuditLog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522208" y="4791456"/>
            <a:ext cx="298094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engine: Engine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412480" y="5070348"/>
            <a:ext cx="3200400" cy="0"/>
          </a:xfrm>
          <a:prstGeom prst="line">
            <a:avLst/>
          </a:prstGeom>
          <a:noFill/>
          <a:ln w="12700">
            <a:solidFill>
              <a:srgbClr val="8C949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522208" y="5097780"/>
            <a:ext cx="2980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_store_event(e)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flush()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886200" y="2011680"/>
            <a:ext cx="685800" cy="0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  <a:tailEnd type="arrow"/>
          </a:ln>
        </p:spPr>
      </p:sp>
      <p:sp>
        <p:nvSpPr>
          <p:cNvPr id="43" name="Shape 40"/>
          <p:cNvSpPr/>
          <p:nvPr/>
        </p:nvSpPr>
        <p:spPr>
          <a:xfrm>
            <a:off x="7818120" y="2011680"/>
            <a:ext cx="594360" cy="0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  <a:tailEnd type="arrow"/>
          </a:ln>
        </p:spPr>
      </p:sp>
      <p:sp>
        <p:nvSpPr>
          <p:cNvPr id="44" name="Shape 41"/>
          <p:cNvSpPr/>
          <p:nvPr/>
        </p:nvSpPr>
        <p:spPr>
          <a:xfrm>
            <a:off x="2263140" y="3415284"/>
            <a:ext cx="0" cy="745236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  <a:tailEnd type="arrow"/>
          </a:ln>
        </p:spPr>
      </p:sp>
      <p:sp>
        <p:nvSpPr>
          <p:cNvPr id="45" name="Shape 42"/>
          <p:cNvSpPr/>
          <p:nvPr/>
        </p:nvSpPr>
        <p:spPr>
          <a:xfrm>
            <a:off x="6195060" y="2875788"/>
            <a:ext cx="0" cy="1284732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  <a:tailEnd type="arrow"/>
          </a:ln>
        </p:spPr>
      </p:sp>
      <p:sp>
        <p:nvSpPr>
          <p:cNvPr id="46" name="Shape 43"/>
          <p:cNvSpPr/>
          <p:nvPr/>
        </p:nvSpPr>
        <p:spPr>
          <a:xfrm>
            <a:off x="10012680" y="5591556"/>
            <a:ext cx="0" cy="470916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2263140" y="6062472"/>
            <a:ext cx="7749540" cy="0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>
            <a:off x="2263140" y="5806440"/>
            <a:ext cx="0" cy="256032"/>
          </a:xfrm>
          <a:prstGeom prst="line">
            <a:avLst/>
          </a:prstGeom>
          <a:noFill/>
          <a:ln w="16510">
            <a:solidFill>
              <a:srgbClr val="7F868F"/>
            </a:solidFill>
            <a:prstDash val="dash"/>
            <a:headEnd type="triangle"/>
          </a:ln>
        </p:spPr>
      </p:sp>
      <p:sp>
        <p:nvSpPr>
          <p:cNvPr id="49" name="Text 46"/>
          <p:cNvSpPr txBox="1"/>
          <p:nvPr/>
        </p:nvSpPr>
        <p:spPr>
          <a:xfrm>
            <a:off x="2354580" y="5824728"/>
            <a:ext cx="7566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«realizes»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1.4 — Core security components. The single SecurityEngine holds all decision logic; adapters only translate to its event model.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384048"/>
            <a:ext cx="1463040" cy="3213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48640" y="1298448"/>
            <a:ext cx="2697480" cy="676656"/>
          </a:xfrm>
          <a:prstGeom prst="rect">
            <a:avLst/>
          </a:prstGeom>
          <a:solidFill>
            <a:srgbClr val="3A4149"/>
          </a:solidFill>
          <a:ln w="12700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298448"/>
            <a:ext cx="269748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29000" y="1298448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29000" y="1298448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19.3.0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30520" y="1298448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30520" y="1298448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7.0.2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2040" y="1298448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2040" y="1298448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733559" y="1298448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733559" y="1298448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3.10.1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107692"/>
            <a:ext cx="2697480" cy="676656"/>
          </a:xfrm>
          <a:prstGeom prst="rect">
            <a:avLst/>
          </a:prstGeom>
          <a:solidFill>
            <a:srgbClr val="3A4149"/>
          </a:solidFill>
          <a:ln w="12700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48640" y="2107692"/>
            <a:ext cx="269748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Middleware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29000" y="2107692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29000" y="2107692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0.142.2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30520" y="2107692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30520" y="2107692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PyJWT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2.15.1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32040" y="2107692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32040" y="2107692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Interception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middleware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733559" y="2107692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33559" y="2107692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Engine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2916936"/>
            <a:ext cx="2697480" cy="676656"/>
          </a:xfrm>
          <a:prstGeom prst="rect">
            <a:avLst/>
          </a:prstGeom>
          <a:solidFill>
            <a:srgbClr val="3A4149"/>
          </a:solidFill>
          <a:ln w="12700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48640" y="2916936"/>
            <a:ext cx="269748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AI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429000" y="2916936"/>
            <a:ext cx="2655722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29000" y="2916936"/>
            <a:ext cx="2655722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1.2.12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31026" y="2916936"/>
            <a:ext cx="2655722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31026" y="2916936"/>
            <a:ext cx="2655722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Core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1.6.6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033053" y="2916936"/>
            <a:ext cx="2655722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33053" y="2916936"/>
            <a:ext cx="2655722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0.35.1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3726180"/>
            <a:ext cx="2697480" cy="676656"/>
          </a:xfrm>
          <a:prstGeom prst="rect">
            <a:avLst/>
          </a:prstGeom>
          <a:solidFill>
            <a:srgbClr val="3A4149"/>
          </a:solidFill>
          <a:ln w="12700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548640" y="3726180"/>
            <a:ext cx="269748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RAG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429000" y="3726180"/>
            <a:ext cx="2655722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29000" y="3726180"/>
            <a:ext cx="2655722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RAG pipeline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in-repo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231026" y="3726180"/>
            <a:ext cx="2655722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31026" y="3726180"/>
            <a:ext cx="2655722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ingestion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033053" y="3726180"/>
            <a:ext cx="2655722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033053" y="3726180"/>
            <a:ext cx="2655722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ML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48640" y="4535424"/>
            <a:ext cx="2697480" cy="676656"/>
          </a:xfrm>
          <a:prstGeom prst="rect">
            <a:avLst/>
          </a:prstGeom>
          <a:solidFill>
            <a:srgbClr val="3A4149"/>
          </a:solidFill>
          <a:ln w="12700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548640" y="4535424"/>
            <a:ext cx="269748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3429000" y="4535424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429000" y="4535424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530520" y="4535424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530520" y="4535424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0.5.0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632040" y="4535424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632040" y="4535424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2.0.54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9733559" y="4535424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33559" y="4535424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1.20.0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" y="5344668"/>
            <a:ext cx="2697480" cy="676656"/>
          </a:xfrm>
          <a:prstGeom prst="rect">
            <a:avLst/>
          </a:prstGeom>
          <a:solidFill>
            <a:srgbClr val="3A4149"/>
          </a:solidFill>
          <a:ln w="12700">
            <a:solidFill>
              <a:srgbClr val="3A4149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548640" y="5344668"/>
            <a:ext cx="269748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3429000" y="5344668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429000" y="5344668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530520" y="5344668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530520" y="5344668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632040" y="5344668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632040" y="5344668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733559" y="5344668"/>
            <a:ext cx="1955216" cy="676656"/>
          </a:xfrm>
          <a:prstGeom prst="rect">
            <a:avLst/>
          </a:prstGeom>
          <a:solidFill>
            <a:srgbClr val="F0F1F3"/>
          </a:solidFill>
          <a:ln w="9525">
            <a:solidFill>
              <a:srgbClr val="D7DAD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733559" y="5344668"/>
            <a:ext cx="195521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2.1 — Layered technology stack  (core: Python · FastAPI · PostgreSQL / pgvector · React).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384048"/>
            <a:ext cx="1463040" cy="3213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 — Frontend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70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light, airy operator dashboard across 11 pages — live trace, trust, red-team and threat coverage.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79120" y="5263069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91640"/>
            <a:ext cx="4526280" cy="213101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86600" y="3877521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tab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7086600" y="651145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48214E-0D85-9E08-EB20-6756E0320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5" y="2147287"/>
            <a:ext cx="6290176" cy="29681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AB1F8B-9BE6-5E9F-F871-ADC939D35B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5" y="1664208"/>
            <a:ext cx="4604692" cy="21584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14EEC7-9B0B-9D0D-FE13-508817EDA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863" y="4222491"/>
            <a:ext cx="4522052" cy="2131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EA2CD-B8F8-9ACA-877C-64E4F1D4C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4D4AA1F-B9AA-70F9-CBF6-93AC57D80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384048"/>
            <a:ext cx="1463040" cy="32137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34EA864-3AB4-AEAD-D8FC-494C6D795B67}"/>
              </a:ext>
            </a:extLst>
          </p:cNvPr>
          <p:cNvSpPr txBox="1"/>
          <p:nvPr/>
        </p:nvSpPr>
        <p:spPr>
          <a:xfrm>
            <a:off x="548640" y="384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 — Frontend</a:t>
            </a:r>
            <a:endParaRPr lang="en-US" sz="29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12BAE5A-2AC9-B6F9-299B-8DAEE80B4DDA}"/>
              </a:ext>
            </a:extLst>
          </p:cNvPr>
          <p:cNvSpPr txBox="1"/>
          <p:nvPr/>
        </p:nvSpPr>
        <p:spPr>
          <a:xfrm>
            <a:off x="548640" y="1170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light, airy operator dashboard across 11 pages — live trace, trust, red-team and threat coverage.</a:t>
            </a:r>
            <a:endParaRPr lang="en-US" sz="13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446EDD7-2905-0F50-0944-777BBCFD5936}"/>
              </a:ext>
            </a:extLst>
          </p:cNvPr>
          <p:cNvSpPr txBox="1"/>
          <p:nvPr/>
        </p:nvSpPr>
        <p:spPr>
          <a:xfrm>
            <a:off x="579120" y="5263069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– 2D visualization </a:t>
            </a:r>
            <a:endParaRPr lang="en-US" sz="1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03CEA73-5E12-DBE7-FFDC-802FADF184C4}"/>
              </a:ext>
            </a:extLst>
          </p:cNvPr>
          <p:cNvSpPr txBox="1"/>
          <p:nvPr/>
        </p:nvSpPr>
        <p:spPr>
          <a:xfrm>
            <a:off x="7086600" y="3877521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</a:t>
            </a:r>
            <a:endParaRPr lang="en-US" sz="1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DDE1F93-65FE-2AC3-E524-944A49D30D4F}"/>
              </a:ext>
            </a:extLst>
          </p:cNvPr>
          <p:cNvSpPr txBox="1"/>
          <p:nvPr/>
        </p:nvSpPr>
        <p:spPr>
          <a:xfrm>
            <a:off x="7086600" y="651145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/>
              <a:t>Threat coverage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CB2C2-9EA2-4257-36CE-57567BAB6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863" y="1604891"/>
            <a:ext cx="4562855" cy="21673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4D2AB6-38E3-5600-2390-1BDBB34FB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6754" y="4169431"/>
            <a:ext cx="4593072" cy="21673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0C1E53-1B9C-F0BB-16CF-583E4D257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042" y="2181489"/>
            <a:ext cx="6281855" cy="296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08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384048"/>
            <a:ext cx="1463040" cy="3213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AegisAI goes next — closing the gap between measured today and production-grade tomorrow.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257800" cy="1280160"/>
          </a:xfrm>
          <a:prstGeom prst="rect">
            <a:avLst/>
          </a:prstGeom>
          <a:solidFill>
            <a:srgbClr val="F7F8F9"/>
          </a:solidFill>
          <a:ln w="12700">
            <a:solidFill>
              <a:srgbClr val="D7DADF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7824" y="2185416"/>
            <a:ext cx="548640" cy="548640"/>
          </a:xfrm>
          <a:prstGeom prst="ellipse">
            <a:avLst/>
          </a:prstGeom>
          <a:solidFill>
            <a:srgbClr val="ECEEF1"/>
          </a:solidFill>
          <a:ln w="12700">
            <a:solidFill>
              <a:srgbClr val="DDE0E5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32257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965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generalization gap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600200" y="23317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semantic firewall and add adversarial training to lift held-out recall (45% → 80%+).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355080" y="1783080"/>
            <a:ext cx="5257800" cy="1280160"/>
          </a:xfrm>
          <a:prstGeom prst="rect">
            <a:avLst/>
          </a:prstGeom>
          <a:solidFill>
            <a:srgbClr val="F7F8F9"/>
          </a:solidFill>
          <a:ln w="12700">
            <a:solidFill>
              <a:srgbClr val="D7DADF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92824" y="2185416"/>
            <a:ext cx="548640" cy="548640"/>
          </a:xfrm>
          <a:prstGeom prst="ellipse">
            <a:avLst/>
          </a:prstGeom>
          <a:solidFill>
            <a:srgbClr val="ECEEF1"/>
          </a:solidFill>
          <a:ln w="12700">
            <a:solidFill>
              <a:srgbClr val="DDE0E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32257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15200" y="1965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standards coverage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315200" y="23317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OWASP LLM Top 10 (2025) and broaden MITRE ATLAS, with automated residual-risk reports.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200400"/>
            <a:ext cx="5257800" cy="1280160"/>
          </a:xfrm>
          <a:prstGeom prst="rect">
            <a:avLst/>
          </a:prstGeom>
          <a:solidFill>
            <a:srgbClr val="F7F8F9"/>
          </a:solidFill>
          <a:ln w="12700">
            <a:solidFill>
              <a:srgbClr val="D7DADF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77824" y="3602736"/>
            <a:ext cx="548640" cy="548640"/>
          </a:xfrm>
          <a:prstGeom prst="ellipse">
            <a:avLst/>
          </a:prstGeom>
          <a:solidFill>
            <a:srgbClr val="ECEEF1"/>
          </a:solidFill>
          <a:ln w="12700">
            <a:solidFill>
              <a:srgbClr val="DDE0E5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373989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3383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&amp; richer tools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600200" y="37490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Policy-aware gateway for multi-agent workflows and an expanded tool / plugin registry.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355080" y="3200400"/>
            <a:ext cx="5257800" cy="1280160"/>
          </a:xfrm>
          <a:prstGeom prst="rect">
            <a:avLst/>
          </a:prstGeom>
          <a:solidFill>
            <a:srgbClr val="F7F8F9"/>
          </a:solidFill>
          <a:ln w="12700">
            <a:solidFill>
              <a:srgbClr val="D7DADF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92824" y="3602736"/>
            <a:ext cx="548640" cy="548640"/>
          </a:xfrm>
          <a:prstGeom prst="ellipse">
            <a:avLst/>
          </a:prstGeom>
          <a:solidFill>
            <a:srgbClr val="ECEEF1"/>
          </a:solidFill>
          <a:ln w="12700">
            <a:solidFill>
              <a:srgbClr val="DDE0E5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73989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15200" y="3383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315200" y="37490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deployment, SIEM / observability export, and verified performance under load.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0080" y="4617720"/>
            <a:ext cx="5257800" cy="1280160"/>
          </a:xfrm>
          <a:prstGeom prst="rect">
            <a:avLst/>
          </a:prstGeom>
          <a:solidFill>
            <a:srgbClr val="F7F8F9"/>
          </a:solidFill>
          <a:ln w="12700">
            <a:solidFill>
              <a:srgbClr val="D7DADF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77824" y="5020056"/>
            <a:ext cx="548640" cy="548640"/>
          </a:xfrm>
          <a:prstGeom prst="ellipse">
            <a:avLst/>
          </a:prstGeom>
          <a:solidFill>
            <a:srgbClr val="ECEEF1"/>
          </a:solidFill>
          <a:ln w="12700">
            <a:solidFill>
              <a:srgbClr val="DDE0E5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600200" y="4800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red-teaming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1600200" y="51663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Risk-guided fuzzing that feeds newly found attack signatures back into the firewall.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355080" y="4617720"/>
            <a:ext cx="5257800" cy="1280160"/>
          </a:xfrm>
          <a:prstGeom prst="rect">
            <a:avLst/>
          </a:prstGeom>
          <a:solidFill>
            <a:srgbClr val="F7F8F9"/>
          </a:solidFill>
          <a:ln w="12700">
            <a:solidFill>
              <a:srgbClr val="D7DADF"/>
            </a:solidFill>
            <a:prstDash val="solid"/>
          </a:ln>
          <a:effectLst>
            <a:outerShdw blurRad="50800" dist="17780" dir="5400000" algn="bl" rotWithShape="0">
              <a:srgbClr val="C2C6CC">
                <a:alpha val="5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592824" y="5020056"/>
            <a:ext cx="548640" cy="548640"/>
          </a:xfrm>
          <a:prstGeom prst="ellipse">
            <a:avLst/>
          </a:prstGeom>
          <a:solidFill>
            <a:srgbClr val="ECEEF1"/>
          </a:solidFill>
          <a:ln w="12700">
            <a:solidFill>
              <a:srgbClr val="DDE0E5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5157216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315200" y="4800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brains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7315200" y="51663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local + hosted LLM backends with per-model trust calibration.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836</Words>
  <Application>Microsoft Office PowerPoint</Application>
  <PresentationFormat>Widescreen</PresentationFormat>
  <Paragraphs>194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Mudita Jain</cp:lastModifiedBy>
  <cp:revision>2</cp:revision>
  <dcterms:created xsi:type="dcterms:W3CDTF">2026-10-09T10:07:40Z</dcterms:created>
  <dcterms:modified xsi:type="dcterms:W3CDTF">2026-10-09T10:16:46Z</dcterms:modified>
</cp:coreProperties>
</file>